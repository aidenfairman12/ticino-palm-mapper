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iden/Desktop/portfolio/palmTrack/deck/img/REF_ground_pho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0"/>
            <a:ext cx="44622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26680" y="0"/>
            <a:ext cx="54864" cy="6858000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REPORT  ·  21 JUNE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an Invasive Palm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Sky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Ticino Palm Mapper — Phase 0: data pipeline built, and a hard look at how we will actually label the palms.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892040"/>
            <a:ext cx="2926080" cy="0"/>
          </a:xfrm>
          <a:prstGeom prst="line">
            <a:avLst/>
          </a:prstGeom>
          <a:noFill/>
          <a:ln w="19050">
            <a:solidFill>
              <a:srgbClr val="6E92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029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Data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ONE-SLIDE VERSION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 this session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47472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pipeline, end-to-end on live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0248" y="155448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0248" y="1554480"/>
            <a:ext cx="347472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270248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7,118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270248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GBIF RECORDS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8848" y="2724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palm occurrences evaluated as labels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91856" y="155448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91856" y="1554480"/>
            <a:ext cx="347472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991856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991856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 LAYERS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0456" y="2724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LiDAR height + 2018/21/24 temporal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11091672" cy="2606040"/>
          </a:xfrm>
          <a:prstGeom prst="rect">
            <a:avLst/>
          </a:prstGeom>
          <a:solidFill>
            <a:srgbClr val="16271D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LABELING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imagery, not compute — labels.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plan assumed we could eyeball palms in the orthophotos and hand-label from them. We stress-tested that and it does not hold: at 10 cm RGB, individual crowns are not reliably separable by eye — even against a confirmed, ground-truthed palm.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forward: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weak signals (RGB texture + LiDAR height + temporal persistence) in a trained model, and build the test set from ground truth — not from eyeballing.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end-to-end Phase 0 data layer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1581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SWISSIMAGE 10 cm RGB tiles (swisstopo STAC COGs, memory-safe)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13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61872" y="22951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occurrence points from the GBIF API, reprojected to EPSG:2056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30083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points to the tile grid (point GeoJSON + raster masks)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512064" cy="512064"/>
          </a:xfrm>
          <a:prstGeom prst="ellipse">
            <a:avLst/>
          </a:prstGeom>
          <a:solidFill>
            <a:srgbClr val="6E924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61872" y="37216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co-registered LiDAR height → [R,G,B,CHM] feature stacks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512064" cy="512064"/>
          </a:xfrm>
          <a:prstGeom prst="ellipse">
            <a:avLst/>
          </a:prstGeom>
          <a:solidFill>
            <a:srgbClr val="6E924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53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61872" y="4434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2018 / 2021 / 2024 time series (aligned per tile)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512064" cy="512064"/>
          </a:xfrm>
          <a:prstGeom prst="ellipse">
            <a:avLst/>
          </a:prstGeom>
          <a:solidFill>
            <a:srgbClr val="6E924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66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61872" y="51480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labeling-assist sheet: crop + GBIF + Street View links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040880" y="1554480"/>
            <a:ext cx="45994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0" descr="/Users/Aiden/Desktop/portfolio/palmTrack/deck/img/contact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096" y="1664208"/>
            <a:ext cx="2693000" cy="3364992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25" name="Text 22"/>
          <p:cNvSpPr/>
          <p:nvPr/>
        </p:nvSpPr>
        <p:spPr>
          <a:xfrm>
            <a:off x="7178040" y="504748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output: aligned RGB tiles + occurrence points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 a private GitHub repo  </a:t>
            </a:r>
            <a:pPr algn="l" indent="0" marL="0">
              <a:buNone/>
            </a:pPr>
            <a:r>
              <a:rPr lang="en-US" sz="1150" i="1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(github.com/aidenfairman12/ticino-palm-mapper)</a:t>
            </a:r>
            <a:pPr algn="l" indent="0" marL="0">
              <a:buNone/>
            </a:pPr>
            <a:r>
              <a:rPr lang="en-US" sz="115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Data is gitignored; ML modules left as stubs for the ML owner.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labeling is the whole ballgame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1207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379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is only as honest as its test 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precision/recall on a small, exhaustively-labelled hold-out set — or the headline map is unverifiable.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9167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063240"/>
            <a:ext cx="109728" cy="1207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095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Occurrence points are presence-only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611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 'a palm was seen near here', not which crown, and not 'every palm in this tile'. Absence of a point ≠ absence of a palm.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9167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434840"/>
            <a:ext cx="109728" cy="1207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581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the labels must be earned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983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label sources exist; trustworthy ones do not come for free. This session was about finding out how trustworthy each source really is.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attempts at labeling, one lesson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9339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1993392" cy="109728"/>
          </a:xfrm>
          <a:prstGeom prst="rect">
            <a:avLst/>
          </a:prstGeom>
          <a:solidFill>
            <a:srgbClr val="B047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2286000"/>
            <a:ext cx="731520" cy="731520"/>
          </a:xfrm>
          <a:prstGeom prst="ellipse">
            <a:avLst/>
          </a:prstGeom>
          <a:solidFill>
            <a:srgbClr val="B0472E"/>
          </a:solidFill>
          <a:ln/>
        </p:spPr>
      </p:sp>
      <p:sp>
        <p:nvSpPr>
          <p:cNvPr id="8" name="Text 6"/>
          <p:cNvSpPr/>
          <p:nvPr/>
        </p:nvSpPr>
        <p:spPr>
          <a:xfrm>
            <a:off x="1271016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 Flora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export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coordinates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15184" y="1965960"/>
            <a:ext cx="274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907792" y="1965960"/>
            <a:ext cx="199339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07792" y="1965960"/>
            <a:ext cx="1993392" cy="109728"/>
          </a:xfrm>
          <a:prstGeom prst="rect">
            <a:avLst/>
          </a:prstGeom>
          <a:solidFill>
            <a:srgbClr val="C08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38728" y="2286000"/>
            <a:ext cx="731520" cy="731520"/>
          </a:xfrm>
          <a:prstGeom prst="ellipse">
            <a:avLst/>
          </a:prstGeom>
          <a:solidFill>
            <a:srgbClr val="C08A2A"/>
          </a:solidFill>
          <a:ln/>
        </p:spPr>
      </p:sp>
      <p:sp>
        <p:nvSpPr>
          <p:cNvPr id="15" name="Text 13"/>
          <p:cNvSpPr/>
          <p:nvPr/>
        </p:nvSpPr>
        <p:spPr>
          <a:xfrm>
            <a:off x="353872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999232" y="32004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GBIF API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occurrence points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999232" y="41605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imprecise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82896" y="1965960"/>
            <a:ext cx="274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175504" y="1965960"/>
            <a:ext cx="199339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75504" y="1965960"/>
            <a:ext cx="1993392" cy="109728"/>
          </a:xfrm>
          <a:prstGeom prst="rect">
            <a:avLst/>
          </a:prstGeom>
          <a:solidFill>
            <a:srgbClr val="B047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806440" y="2286000"/>
            <a:ext cx="731520" cy="731520"/>
          </a:xfrm>
          <a:prstGeom prst="ellipse">
            <a:avLst/>
          </a:prstGeom>
          <a:solidFill>
            <a:srgbClr val="B0472E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266944" y="32004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Eyeball the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orthophoto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266944" y="41605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them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50608" y="1965960"/>
            <a:ext cx="274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443216" y="1965960"/>
            <a:ext cx="199339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43216" y="1965960"/>
            <a:ext cx="1993392" cy="109728"/>
          </a:xfrm>
          <a:prstGeom prst="rect">
            <a:avLst/>
          </a:prstGeom>
          <a:solidFill>
            <a:srgbClr val="C08A2A"/>
          </a:solidFill>
          <a:ln/>
        </p:spPr>
      </p:sp>
      <p:sp>
        <p:nvSpPr>
          <p:cNvPr id="28" name="Shape 26"/>
          <p:cNvSpPr/>
          <p:nvPr/>
        </p:nvSpPr>
        <p:spPr>
          <a:xfrm>
            <a:off x="8074152" y="2286000"/>
            <a:ext cx="731520" cy="731520"/>
          </a:xfrm>
          <a:prstGeom prst="ellipse">
            <a:avLst/>
          </a:prstGeom>
          <a:solidFill>
            <a:srgbClr val="C08A2A"/>
          </a:solidFill>
          <a:ln/>
        </p:spPr>
      </p:sp>
      <p:sp>
        <p:nvSpPr>
          <p:cNvPr id="29" name="Text 27"/>
          <p:cNvSpPr/>
          <p:nvPr/>
        </p:nvSpPr>
        <p:spPr>
          <a:xfrm>
            <a:off x="807415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534656" y="32004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 photo +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Street View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534656" y="41605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Confirms, can't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0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8320" y="1965960"/>
            <a:ext cx="274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710928" y="1965960"/>
            <a:ext cx="199339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10928" y="1965960"/>
            <a:ext cx="1993392" cy="109728"/>
          </a:xfrm>
          <a:prstGeom prst="rect">
            <a:avLst/>
          </a:prstGeom>
          <a:solidFill>
            <a:srgbClr val="3E7D44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41864" y="2286000"/>
            <a:ext cx="731520" cy="731520"/>
          </a:xfrm>
          <a:prstGeom prst="ellipse">
            <a:avLst/>
          </a:prstGeom>
          <a:solidFill>
            <a:srgbClr val="3E7D44"/>
          </a:solidFill>
          <a:ln/>
        </p:spPr>
      </p:sp>
      <p:sp>
        <p:nvSpPr>
          <p:cNvPr id="36" name="Text 34"/>
          <p:cNvSpPr/>
          <p:nvPr/>
        </p:nvSpPr>
        <p:spPr>
          <a:xfrm>
            <a:off x="1034186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802368" y="32004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Multi-signal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802368" y="41605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E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was abandoned for a concrete reason — the next slide is the scorecard.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SCORECARD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tried, and why each fell short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4233672"/>
                <a:gridCol w="17373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promise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fell short / its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 Flora 'AtlasWS' export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Swiss flora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a per-square species checklist — no coordinates at 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UNUSABLE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47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GBIF occurrence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7,118 free CH points, with coords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 at 18 m (=180 px); a '1 m' point landed on a rooftop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WEAK ANCHOR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8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Eyeball the RGB orthophoto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needs no labels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Crowns not separable from native/ornamental at 10 cm; forest occlusion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UNRELIABLE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47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iNaturalist photo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species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 are close-ups — no scene context to match to the ortho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CAN'T LOCALISE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47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View cross-reference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Oblique, eye-level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a palm, but RGB ortho still ambiguous; leaf-off branches mimic palms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GT ONLY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8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 (SWISSIMAGE 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separability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freely available — request / paid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BLOCKED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F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canopy height (CHM)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Free; separates veg vs ground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5 m palm looks like a 5 m shrub — height alone can't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8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Multi-signal fusion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the weak 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2C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trained model + a ground-truthed test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RECOMMENDED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4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Occurrence points do not sit on palms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Aiden/Desktop/portfolio/palmTrack/deck/img/REF_confirmed_from_ab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84455"/>
            <a:ext cx="5166360" cy="2642203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85800" y="48920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GBIF point tagged 1 m uncertainty — lands on a rooftop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99632" y="1600200"/>
            <a:ext cx="5440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Users/Aiden/Desktop/portfolio/palmTrack/deck/img/chips_na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494" y="1737360"/>
            <a:ext cx="3126956" cy="3136392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6336792" y="48920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points carry 18 m uncertainty; markers fall on generic canopy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48640" y="5486400"/>
            <a:ext cx="11091672" cy="868680"/>
          </a:xfrm>
          <a:prstGeom prst="rect">
            <a:avLst/>
          </a:prstGeom>
          <a:solidFill>
            <a:srgbClr val="16271D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914400" y="56509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'coordinate uncertainty' reflects the phone's GPS accuracy, not the plant's true position. Treat all occurrence points as tile-level weak positives — never as crown labels.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confirmed palm — still can't be picked out from above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937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Aiden/Desktop/portfolio/palmTrack/deck/img/REF_ground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51456"/>
            <a:ext cx="4663440" cy="3108201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85800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→ iNaturalist confirms Trachycarpus at a known spot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96712" y="1600200"/>
            <a:ext cx="5943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Users/Aiden/Desktop/portfolio/palmTrack/deck/img/REF_brissago_zoo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40" y="1737360"/>
            <a:ext cx="4588743" cy="3136392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5833872" y="4892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in 10 cm RGB — here a botanical garden full of palms — the radial crown isn't separable by eye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48640" y="5486400"/>
            <a:ext cx="11091672" cy="868680"/>
          </a:xfrm>
          <a:prstGeom prst="rect">
            <a:avLst/>
          </a:prstGeom>
          <a:solidFill>
            <a:srgbClr val="16271D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914400" y="56509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leaf-off imagery doesn't rescue it either — a bare deciduous tree's branches radiate like palm fronds and produce false positives. The eye (and RGB alone) is not enough.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signal is in the combination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Aiden/Desktop/portfolio/palmTrack/deck/img/REF_USER_PA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3440" y="1664208"/>
            <a:ext cx="6722072" cy="1773936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85800" y="345643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User-pinpointed palm — RGB 2018/2021/2024 + LiDAR height. Each panel alone is weak; together they agree.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5029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Users/Aiden/Desktop/portfolio/palmTrack/deck/img/coreg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399" y="4087368"/>
            <a:ext cx="2927683" cy="1810512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685800" y="5916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 co-registered to the 10 cm RGB grid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897880" y="4114800"/>
            <a:ext cx="5715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weak signals that agree:</a:t>
            </a:r>
            <a:endParaRPr lang="en-US" sz="1250" dirty="0"/>
          </a:p>
          <a:p>
            <a:pPr marL="228600" indent="-228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&amp; persistent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across all three vintages (deciduous &amp; construction are not).</a:t>
            </a:r>
            <a:endParaRPr lang="en-US" sz="1250" dirty="0"/>
          </a:p>
          <a:p>
            <a:pPr marL="228600" indent="-228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 height in the CHM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object, not lawn or shadow.</a:t>
            </a:r>
            <a:endParaRPr lang="en-US" sz="1250" dirty="0"/>
          </a:p>
          <a:p>
            <a:pPr marL="228600" indent="-228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Plausibly radial crown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a fan palm.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ALLOWS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signals vs the one that isn't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40680" cy="91440"/>
          </a:xfrm>
          <a:prstGeom prst="rect">
            <a:avLst/>
          </a:prstGeom>
          <a:solidFill>
            <a:srgbClr val="3E7D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92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RGB · SWISSIMAGE 10 cm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911096"/>
            <a:ext cx="1874520" cy="310896"/>
          </a:xfrm>
          <a:prstGeom prst="rect">
            <a:avLst/>
          </a:prstGeom>
          <a:solidFill>
            <a:srgbClr val="3E7D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500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crowns by size (~20–30 px). The base layer.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9632" y="1691640"/>
            <a:ext cx="5440680" cy="91440"/>
          </a:xfrm>
          <a:prstGeom prst="rect">
            <a:avLst/>
          </a:prstGeom>
          <a:solidFill>
            <a:srgbClr val="3E7D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1892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LiDAR height (CHM)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82912" y="1911096"/>
            <a:ext cx="1874520" cy="310896"/>
          </a:xfrm>
          <a:prstGeom prst="rect">
            <a:avLst/>
          </a:prstGeom>
          <a:solidFill>
            <a:srgbClr val="3E7D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73952" y="23500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DSM−DTM. Masks ground, gives height. A feature, not an ID.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19272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19272"/>
            <a:ext cx="5440680" cy="91440"/>
          </a:xfrm>
          <a:prstGeom prst="rect">
            <a:avLst/>
          </a:prstGeom>
          <a:solidFill>
            <a:srgbClr val="3E7D4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2018/21/24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3538728"/>
            <a:ext cx="1874520" cy="310896"/>
          </a:xfrm>
          <a:prstGeom prst="rect">
            <a:avLst/>
          </a:prstGeom>
          <a:solidFill>
            <a:srgbClr val="3E7D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persistence vs change. Aligns per tile for free.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3319272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3319272"/>
            <a:ext cx="5440680" cy="91440"/>
          </a:xfrm>
          <a:prstGeom prst="rect">
            <a:avLst/>
          </a:prstGeom>
          <a:solidFill>
            <a:srgbClr val="8A8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NIR · SWISSIMAGE 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82912" y="3538728"/>
            <a:ext cx="1874520" cy="310896"/>
          </a:xfrm>
          <a:prstGeom prst="rect">
            <a:avLst/>
          </a:prstGeom>
          <a:solidFill>
            <a:srgbClr val="8A8F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PAID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73952" y="39776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the single best discriminator — but not freely served.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91672" cy="1280160"/>
          </a:xfrm>
          <a:prstGeom prst="rect">
            <a:avLst/>
          </a:prstGeom>
          <a:solidFill>
            <a:srgbClr val="EDEADD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 —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 cm, two adjacent palms merge into one blob (we saw this on a pin that was actually two trees).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 density / counting over exact instance separation in Phase 1.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713232"/>
          </a:xfrm>
          <a:prstGeom prst="rect">
            <a:avLst/>
          </a:prstGeom>
          <a:solidFill>
            <a:srgbClr val="8FB4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moves for the next phase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5727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height + temporal core inputs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476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CHM and the multi-vintage stack into Phase 1 — not the 'optional v2' the plan assumed.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50545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SWISSIMAGE RS (NIR) now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880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lead time, and likely the strongest single discriminator for evergreen palms.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65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34381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Ground-truth the test set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813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with the Street View labeling tool (script 05). Occurrence points stay as weak positives only.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98264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98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43708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density first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474573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/ density map as Phase 1; precise individual detection as the stretch goal.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3095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330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53035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for labeling, not compute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56784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ample. Trustworthy labels are the real cost — plan the effort explicitly.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· 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 is done. The data layer is ready.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828800"/>
          </a:xfrm>
          <a:prstGeom prst="rect">
            <a:avLst/>
          </a:prstGeom>
          <a:solidFill>
            <a:srgbClr val="1F3527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6-script pipeline: RGB + LiDAR + temporal + labels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feasibility characterised end-to-end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a private GitHub repo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2286000"/>
            <a:ext cx="5394960" cy="1828800"/>
          </a:xfrm>
          <a:prstGeom prst="rect">
            <a:avLst/>
          </a:prstGeom>
          <a:solidFill>
            <a:srgbClr val="1F3527"/>
          </a:solidFill>
          <a:ln w="12700">
            <a:solidFill>
              <a:srgbClr val="EDEA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(ML OWNER)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65392" y="2788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 the [R,G,B,CHM] feature stacks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density / counting detector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D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 seed + ground-truthed hold-out set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12700">
            <a:solidFill>
              <a:srgbClr val="6E92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 </a:t>
            </a:r>
            <a:pPr indent="0" marL="0">
              <a:buNone/>
            </a:pPr>
            <a:r>
              <a:rPr lang="en-US" sz="1300" b="1" dirty="0">
                <a:solidFill>
                  <a:srgbClr val="8F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github.com/aidenfairman12/ticino-palm-mapper</a:t>
            </a:r>
            <a:pPr indent="0" marL="0">
              <a:buNone/>
            </a:pPr>
            <a:r>
              <a:rPr lang="en-US" sz="1300" dirty="0">
                <a:solidFill>
                  <a:srgbClr val="6F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(private)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E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feasibility work is itself a result: we now know exactly where the hard part is.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Ticino Palm Mapper — Phase 0 Session Report</dc:title>
  <dc:subject>PptxGenJS Presentation</dc:subject>
  <dc:creator>ML / Data Engineering</dc:creator>
  <cp:lastModifiedBy>ML / Data Engineering</cp:lastModifiedBy>
  <cp:revision>1</cp:revision>
  <dcterms:created xsi:type="dcterms:W3CDTF">2026-06-21T20:39:36Z</dcterms:created>
  <dcterms:modified xsi:type="dcterms:W3CDTF">2026-06-21T20:39:36Z</dcterms:modified>
</cp:coreProperties>
</file>